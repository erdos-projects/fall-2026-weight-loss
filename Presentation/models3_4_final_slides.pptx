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9"/>
    <p:restoredTop sz="86562"/>
  </p:normalViewPr>
  <p:slideViewPr>
    <p:cSldViewPr snapToGrid="0" snapToObjects="1">
      <p:cViewPr varScale="1">
        <p:scale>
          <a:sx n="94" d="100"/>
          <a:sy n="94" d="100"/>
        </p:scale>
        <p:origin x="10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6C415-41ED-4C4F-94AF-20E5F068C94C}" type="datetimeFigureOut">
              <a:rPr lang="en-US" smtClean="0"/>
              <a:t>11/1/26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57096-F122-1F42-A97F-33877E310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57096-F122-1F42-A97F-33877E3109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47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57096-F122-1F42-A97F-33877E3109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58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58952"/>
          </a:xfrm>
          <a:prstGeom prst="rect">
            <a:avLst/>
          </a:prstGeom>
          <a:solidFill>
            <a:srgbClr val="22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73736"/>
            <a:ext cx="115214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rPr dirty="0"/>
              <a:t>Models 3–4: </a:t>
            </a:r>
            <a:r>
              <a:rPr lang="en-US" dirty="0"/>
              <a:t>L</a:t>
            </a:r>
            <a:r>
              <a:rPr dirty="0"/>
              <a:t>inear </a:t>
            </a:r>
            <a:r>
              <a:rPr lang="en-US" dirty="0"/>
              <a:t>R</a:t>
            </a:r>
            <a:r>
              <a:rPr dirty="0"/>
              <a:t>egression and </a:t>
            </a:r>
            <a:r>
              <a:rPr lang="en-US" dirty="0"/>
              <a:t>R</a:t>
            </a:r>
            <a:r>
              <a:rPr dirty="0"/>
              <a:t>andom </a:t>
            </a:r>
            <a:r>
              <a:rPr lang="en-US" dirty="0"/>
              <a:t>F</a:t>
            </a:r>
            <a:r>
              <a:rPr dirty="0"/>
              <a:t>orest — </a:t>
            </a:r>
            <a:r>
              <a:rPr lang="en-US" dirty="0"/>
              <a:t>M</a:t>
            </a:r>
            <a:r>
              <a:rPr dirty="0"/>
              <a:t>ethods and </a:t>
            </a:r>
            <a:r>
              <a:rPr lang="en-US" dirty="0"/>
              <a:t>P</a:t>
            </a:r>
            <a:r>
              <a:rPr dirty="0"/>
              <a:t>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9184" y="653796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234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2343A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22343A"/>
                </a:solidFill>
                <a:latin typeface="Aptos"/>
              </a:defRPr>
            </a:pPr>
            <a:r>
              <a:rPr dirty="0"/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508760"/>
            <a:ext cx="4791456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Models:</a:t>
            </a:r>
            <a:r>
              <a:rPr dirty="0"/>
              <a:t> </a:t>
            </a:r>
            <a:r>
              <a:rPr lang="en-US" dirty="0"/>
              <a:t>O</a:t>
            </a:r>
            <a:r>
              <a:rPr dirty="0"/>
              <a:t>rdinary least squares (OLS) and tuned Random Forest</a:t>
            </a:r>
            <a:r>
              <a:rPr lang="en-US" dirty="0"/>
              <a:t> (RF)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2234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21408"/>
            <a:ext cx="4791456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Predictor sets:</a:t>
            </a:r>
            <a:r>
              <a:rPr dirty="0"/>
              <a:t> 15 covariates vs. 15 covariates + 12 behaviors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34056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2234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34056"/>
            <a:ext cx="4791456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Split:</a:t>
            </a:r>
            <a:r>
              <a:rPr dirty="0"/>
              <a:t> 80/20 train/test (2,235 / 559), outcome-stratified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46703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2234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46703"/>
            <a:ext cx="4791456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Preprocessing:</a:t>
            </a:r>
            <a:r>
              <a:rPr dirty="0"/>
              <a:t> </a:t>
            </a:r>
            <a:r>
              <a:rPr lang="en-US" dirty="0"/>
              <a:t>M</a:t>
            </a:r>
            <a:r>
              <a:rPr dirty="0"/>
              <a:t>edian imputation; OLS predictors standardized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59352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2234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959352"/>
            <a:ext cx="4791456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Validation:</a:t>
            </a:r>
            <a:r>
              <a:rPr dirty="0"/>
              <a:t> </a:t>
            </a:r>
            <a:r>
              <a:rPr lang="en-US" dirty="0"/>
              <a:t>R</a:t>
            </a:r>
            <a:r>
              <a:rPr dirty="0"/>
              <a:t>epeated 5-fold CV (25 folds); nested tuning for </a:t>
            </a:r>
            <a:r>
              <a:rPr lang="en-US" dirty="0"/>
              <a:t>RF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2234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572000"/>
            <a:ext cx="4791456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Tuning:</a:t>
            </a:r>
            <a:r>
              <a:rPr dirty="0"/>
              <a:t> 12 </a:t>
            </a:r>
            <a:r>
              <a:rPr lang="en-US" dirty="0"/>
              <a:t>RF</a:t>
            </a:r>
            <a:r>
              <a:rPr dirty="0"/>
              <a:t> configurations, RMSE criterion, 3-fold inner 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84648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2234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184648"/>
            <a:ext cx="4791456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Added value:</a:t>
            </a:r>
            <a:r>
              <a:rPr dirty="0"/>
              <a:t> 2,000 paired test-set bootstrap resamples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024128"/>
            <a:ext cx="5715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2343A"/>
                </a:solidFill>
                <a:latin typeface="Aptos"/>
              </a:defRPr>
            </a:pPr>
            <a:r>
              <a:rPr dirty="0"/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51790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2343A"/>
                </a:solidFill>
                <a:latin typeface="Aptos"/>
              </a:defRPr>
            </a:pPr>
            <a:r>
              <a:t>Model / predictors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151790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343A"/>
                </a:solidFill>
                <a:latin typeface="Aptos"/>
              </a:defRPr>
            </a:pPr>
            <a:r>
              <a:t>Test 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51790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343A"/>
                </a:solidFill>
                <a:latin typeface="Aptos"/>
              </a:defRPr>
            </a:pPr>
            <a:r>
              <a:t>CV R²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43616" y="15179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343A"/>
                </a:solidFill>
                <a:latin typeface="Aptos"/>
              </a:defRPr>
            </a:pPr>
            <a:r>
              <a:t>Test RMSE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1883664"/>
            <a:ext cx="5760720" cy="16459"/>
          </a:xfrm>
          <a:prstGeom prst="rect">
            <a:avLst/>
          </a:prstGeom>
          <a:solidFill>
            <a:srgbClr val="C2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0" y="1984248"/>
            <a:ext cx="28346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rPr dirty="0"/>
              <a:t>OLS</a:t>
            </a:r>
            <a:r>
              <a:rPr lang="en-US" dirty="0"/>
              <a:t>:</a:t>
            </a:r>
            <a:r>
              <a:rPr dirty="0"/>
              <a:t>  Covariates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198424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t>0.068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8944" y="198424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t>0.116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80192" y="1984248"/>
            <a:ext cx="960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t>8.765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8736" y="2418588"/>
            <a:ext cx="5769864" cy="429768"/>
          </a:xfrm>
          <a:prstGeom prst="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2459736"/>
            <a:ext cx="28346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F6331"/>
                </a:solidFill>
                <a:latin typeface="Aptos"/>
              </a:defRPr>
            </a:pPr>
            <a:r>
              <a:rPr dirty="0"/>
              <a:t>OLS</a:t>
            </a:r>
            <a:r>
              <a:rPr lang="en-US" dirty="0"/>
              <a:t>: Covariates</a:t>
            </a:r>
            <a:r>
              <a:rPr dirty="0"/>
              <a:t> + Behaviors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6" y="245973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2343A"/>
                </a:solidFill>
                <a:latin typeface="Aptos"/>
              </a:defRPr>
            </a:pPr>
            <a:r>
              <a:t>0.085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38944" y="245973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2343A"/>
                </a:solidFill>
                <a:latin typeface="Aptos"/>
              </a:defRPr>
            </a:pPr>
            <a:r>
              <a:t>0.121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80192" y="2459736"/>
            <a:ext cx="960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2343A"/>
                </a:solidFill>
                <a:latin typeface="Aptos"/>
              </a:defRPr>
            </a:pPr>
            <a:r>
              <a:t>8.687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2935224"/>
            <a:ext cx="28346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rPr lang="en-US" dirty="0"/>
              <a:t>RF:</a:t>
            </a:r>
            <a:r>
              <a:rPr dirty="0"/>
              <a:t> Covariates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7696" y="293522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t>0.073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8944" y="293522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t>0.116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0192" y="293522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t>8.744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88736" y="3369564"/>
            <a:ext cx="5769864" cy="429768"/>
          </a:xfrm>
          <a:prstGeom prst="rect">
            <a:avLst/>
          </a:prstGeom>
          <a:solidFill>
            <a:srgbClr val="F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0" y="3410712"/>
            <a:ext cx="28346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F6331"/>
                </a:solidFill>
                <a:latin typeface="Aptos"/>
              </a:defRPr>
            </a:pPr>
            <a:r>
              <a:rPr lang="en-US" dirty="0"/>
              <a:t>RF: Covariates</a:t>
            </a:r>
            <a:r>
              <a:rPr dirty="0"/>
              <a:t> + Behaviors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34107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2343A"/>
                </a:solidFill>
                <a:latin typeface="Aptos"/>
              </a:defRPr>
            </a:pPr>
            <a:r>
              <a:t>0.081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8944" y="341071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2343A"/>
                </a:solidFill>
                <a:latin typeface="Aptos"/>
              </a:defRPr>
            </a:pPr>
            <a:r>
              <a:t>0.122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80192" y="3410712"/>
            <a:ext cx="960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2343A"/>
                </a:solidFill>
                <a:latin typeface="Aptos"/>
              </a:defRPr>
            </a:pPr>
            <a:r>
              <a:t>8.707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3968496"/>
            <a:ext cx="5760720" cy="16459"/>
          </a:xfrm>
          <a:prstGeom prst="rect">
            <a:avLst/>
          </a:prstGeom>
          <a:solidFill>
            <a:srgbClr val="C2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71032" y="418795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22343A"/>
                </a:solidFill>
                <a:latin typeface="Aptos"/>
              </a:defRPr>
            </a:pPr>
            <a:r>
              <a:t>Added predictive value of behaviors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4645152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34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1" y="4645152"/>
            <a:ext cx="5248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OLS:</a:t>
            </a:r>
            <a:r>
              <a:rPr dirty="0"/>
              <a:t> </a:t>
            </a:r>
            <a:r>
              <a:rPr lang="en-US" dirty="0"/>
              <a:t>T</a:t>
            </a:r>
            <a:r>
              <a:rPr dirty="0"/>
              <a:t>est ΔR² +0.017; 95% CI [−0.003, 0.037]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61888" y="5102352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343A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1" y="5102352"/>
            <a:ext cx="5248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rPr lang="en-US" b="1" dirty="0"/>
              <a:t>RF:</a:t>
            </a:r>
            <a:r>
              <a:rPr dirty="0"/>
              <a:t> </a:t>
            </a:r>
            <a:r>
              <a:rPr lang="en-US" dirty="0"/>
              <a:t>T</a:t>
            </a:r>
            <a:r>
              <a:rPr dirty="0"/>
              <a:t>est ΔR² +0.008; 95% CI [−0.008, 0.027]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07608" y="5623560"/>
            <a:ext cx="55321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F787D"/>
                </a:solidFill>
                <a:latin typeface="Aptos"/>
              </a:defRPr>
            </a:pPr>
            <a:r>
              <a:rPr lang="en-US" i="1" dirty="0"/>
              <a:t>Note.</a:t>
            </a:r>
            <a:r>
              <a:rPr lang="en-US" dirty="0"/>
              <a:t> </a:t>
            </a:r>
            <a:r>
              <a:rPr dirty="0"/>
              <a:t>Both CIs include zero; OLS slightly better on test data, with negligible difference.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58952"/>
          </a:xfrm>
          <a:prstGeom prst="rect">
            <a:avLst/>
          </a:prstGeom>
          <a:solidFill>
            <a:srgbClr val="22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73736"/>
            <a:ext cx="115214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rPr dirty="0"/>
              <a:t>Models 3–4: </a:t>
            </a:r>
            <a:r>
              <a:rPr lang="en-US" dirty="0"/>
              <a:t>W</a:t>
            </a:r>
            <a:r>
              <a:rPr dirty="0"/>
              <a:t>hich </a:t>
            </a:r>
            <a:r>
              <a:rPr lang="en-US" dirty="0"/>
              <a:t>P</a:t>
            </a:r>
            <a:r>
              <a:rPr dirty="0"/>
              <a:t>redictors </a:t>
            </a:r>
            <a:r>
              <a:rPr lang="en-US" dirty="0"/>
              <a:t>M</a:t>
            </a:r>
            <a:r>
              <a:rPr dirty="0"/>
              <a:t>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9184" y="653796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2343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6448" y="5469039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6F787D"/>
                </a:solidFill>
                <a:latin typeface="Aptos"/>
              </a:defRPr>
            </a:pPr>
            <a:r>
              <a:rPr dirty="0"/>
              <a:t>← More predicted weight loss       Less predicted weight loss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99048"/>
            <a:ext cx="53035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343A"/>
                </a:solidFill>
                <a:latin typeface="Aptos"/>
              </a:defRPr>
            </a:pPr>
            <a:r>
              <a:rPr lang="en-US" i="1" dirty="0"/>
              <a:t>Note.</a:t>
            </a:r>
            <a:r>
              <a:rPr lang="en-US" dirty="0"/>
              <a:t> </a:t>
            </a:r>
            <a:r>
              <a:rPr dirty="0"/>
              <a:t>BMI excluded for scale: </a:t>
            </a:r>
            <a:r>
              <a:rPr lang="en-US" dirty="0"/>
              <a:t>C</a:t>
            </a:r>
            <a:r>
              <a:rPr dirty="0"/>
              <a:t>oefficient = −3.172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8576" y="960120"/>
            <a:ext cx="3417194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2343A"/>
                </a:solidFill>
                <a:latin typeface="Aptos"/>
              </a:defRPr>
            </a:pPr>
            <a:r>
              <a:rPr sz="1900" dirty="0"/>
              <a:t>Key </a:t>
            </a:r>
            <a:r>
              <a:rPr lang="en-US" sz="1900" dirty="0"/>
              <a:t>F</a:t>
            </a:r>
            <a:r>
              <a:rPr sz="1900" dirty="0"/>
              <a:t>indings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5696" y="1573564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343A"/>
                </a:solidFill>
                <a:latin typeface="Aptos"/>
              </a:defRPr>
            </a:pPr>
            <a:r>
              <a:rPr dirty="0"/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8577" y="1581912"/>
            <a:ext cx="346430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Starting BMI dominates</a:t>
            </a:r>
            <a:r>
              <a:rPr lang="en-US" b="1" dirty="0"/>
              <a:t>: </a:t>
            </a:r>
            <a:r>
              <a:rPr dirty="0"/>
              <a:t>OLS coefficient −3.172; RF importance +1.116 RMSE points.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6852" y="2223008"/>
            <a:ext cx="1828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343A"/>
                </a:solidFill>
                <a:latin typeface="Aptos"/>
              </a:defRPr>
            </a:pPr>
            <a:r>
              <a:rPr dirty="0"/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8576" y="2223008"/>
            <a:ext cx="3464303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OLS associations:</a:t>
            </a:r>
            <a:r>
              <a:rPr dirty="0"/>
              <a:t> </a:t>
            </a:r>
            <a:r>
              <a:rPr lang="en-US" dirty="0"/>
              <a:t>M</a:t>
            </a:r>
            <a:r>
              <a:rPr dirty="0"/>
              <a:t>eal planning and vigorous activity linked to more weight loss; sedentary time and PHQ-9 to less.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66852" y="3079659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343A"/>
                </a:solidFill>
                <a:latin typeface="Aptos"/>
              </a:defRPr>
            </a:pPr>
            <a:r>
              <a:rPr dirty="0"/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8575" y="3082905"/>
            <a:ext cx="3464304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Binary interpretation:</a:t>
            </a:r>
            <a:r>
              <a:rPr dirty="0"/>
              <a:t> </a:t>
            </a:r>
            <a:r>
              <a:rPr lang="en-US" dirty="0"/>
              <a:t>Participants coded as main meal planners had approximately 1.57 percentage points lower predicted weight change than the comparison group, adjusting for the other predictors.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7966852" y="4358185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343A"/>
                </a:solidFill>
                <a:latin typeface="Aptos"/>
              </a:defRPr>
            </a:pPr>
            <a:r>
              <a:rPr dirty="0"/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8575" y="4365440"/>
            <a:ext cx="3464304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rPr lang="en-US" b="1" dirty="0"/>
              <a:t>RF</a:t>
            </a:r>
            <a:r>
              <a:rPr b="1" dirty="0"/>
              <a:t> interpretation:</a:t>
            </a:r>
            <a:r>
              <a:rPr dirty="0"/>
              <a:t> </a:t>
            </a:r>
            <a:r>
              <a:rPr lang="en-US" dirty="0"/>
              <a:t>Moderate physical activity ranked third overall and highest among behavioral predictors in permutation importance. However, its contribution to predictive accuracy was small (RMSE increase = 0.037 when shuffled).</a:t>
            </a:r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7966852" y="5866544"/>
            <a:ext cx="182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343A"/>
                </a:solidFill>
                <a:latin typeface="Aptos"/>
              </a:defRPr>
            </a:pPr>
            <a:r>
              <a:rPr dirty="0"/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8575" y="5863419"/>
            <a:ext cx="3464304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2343A"/>
                </a:solidFill>
                <a:latin typeface="Aptos"/>
              </a:defRPr>
            </a:pPr>
            <a:r>
              <a:rPr b="1" dirty="0"/>
              <a:t>Prediction:</a:t>
            </a:r>
            <a:r>
              <a:rPr dirty="0"/>
              <a:t> </a:t>
            </a:r>
            <a:r>
              <a:rPr lang="en-US" dirty="0"/>
              <a:t>B</a:t>
            </a:r>
            <a:r>
              <a:rPr dirty="0"/>
              <a:t>ehavioral additions yield modest, uncertain improvement; no clear forest advantage.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F1CED4A-E169-DFEB-5D98-34FFCB5AA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81" y="932689"/>
            <a:ext cx="7668064" cy="43916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368</Words>
  <Application>Microsoft Macintosh PowerPoint</Application>
  <PresentationFormat>Widescreen</PresentationFormat>
  <Paragraphs>61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Coleman</cp:lastModifiedBy>
  <cp:revision>22</cp:revision>
  <dcterms:created xsi:type="dcterms:W3CDTF">2013-01-27T09:14:16Z</dcterms:created>
  <dcterms:modified xsi:type="dcterms:W3CDTF">2026-11-01T06:03:09Z</dcterms:modified>
  <cp:category/>
</cp:coreProperties>
</file>